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74320"/>
            <a:ext cx="11521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 i="0">
                <a:solidFill>
                  <a:srgbClr val="000000"/>
                </a:solidFill>
                <a:latin typeface="Arial"/>
              </a:rPr>
              <a:t>ILMN reverse DCF: today's price implies ~16% annual revenue growth (2027E–2031E)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1">
                <a:solidFill>
                  <a:srgbClr val="404040"/>
                </a:solidFill>
                <a:latin typeface="Arial"/>
              </a:rPr>
              <a:t>$ in millions except per share; adjusted (non-GAAP) basis. Price $271.76 (ILMN close, 14 Oct 2026). Exit at 20.4x 2031E EV/EBITDA, equivalent to 30.0x 2031E P/E. WACC 9.5%. Management margin targets (26% adj. operating margin from 2027E). Growth solved so implied upside = 0.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417320"/>
          <a:ext cx="9070848" cy="3621024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3291840"/>
                <a:gridCol w="722376"/>
                <a:gridCol w="722376"/>
                <a:gridCol w="722376"/>
                <a:gridCol w="722376"/>
                <a:gridCol w="722376"/>
                <a:gridCol w="722376"/>
                <a:gridCol w="722376"/>
                <a:gridCol w="722376"/>
              </a:tblGrid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2024A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2025A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2026E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2027E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2028E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2029E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2030E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2031E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Revenue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 i="0">
                          <a:solidFill>
                            <a:srgbClr val="0000FF"/>
                          </a:solidFill>
                          <a:latin typeface="Arial"/>
                        </a:rPr>
                        <a:t>4,332.0 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 i="0">
                          <a:solidFill>
                            <a:srgbClr val="0000FF"/>
                          </a:solidFill>
                          <a:latin typeface="Arial"/>
                        </a:rPr>
                        <a:t>4,343.0 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4,620.0 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5,356.2 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6,209.7 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7,199.2 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8,346.3 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9,676.3 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050" b="0" i="1">
                          <a:solidFill>
                            <a:srgbClr val="000000"/>
                          </a:solidFill>
                          <a:latin typeface="Arial"/>
                        </a:rPr>
                        <a:t>YoY Growth (%)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 i="1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 i="1">
                          <a:solidFill>
                            <a:srgbClr val="000000"/>
                          </a:solidFill>
                          <a:latin typeface="Arial"/>
                        </a:rPr>
                        <a:t>0.3% 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 cap="flat" cmpd="sng" algn="ctr">
                      <a:solidFill>
                        <a:srgbClr val="C00000"/>
                      </a:solidFill>
                      <a:prstDash val="dash"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 i="1">
                          <a:solidFill>
                            <a:srgbClr val="C00000"/>
                          </a:solidFill>
                          <a:latin typeface="Arial"/>
                        </a:rPr>
                        <a:t>6.4% 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C00000"/>
                      </a:solidFill>
                      <a:prstDash val="dash"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C00000"/>
                      </a:solidFill>
                      <a:prstDash val="dash"/>
                    </a:lnT>
                    <a:lnB w="12700" cap="flat" cmpd="sng" algn="ctr">
                      <a:solidFill>
                        <a:srgbClr val="C00000"/>
                      </a:solidFill>
                      <a:prstDash val="dash"/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 i="1">
                          <a:solidFill>
                            <a:srgbClr val="C00000"/>
                          </a:solidFill>
                          <a:latin typeface="Arial"/>
                        </a:rPr>
                        <a:t>15.9% 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C00000"/>
                      </a:solidFill>
                      <a:prstDash val="dash"/>
                    </a:lnT>
                    <a:lnB w="12700" cap="flat" cmpd="sng" algn="ctr">
                      <a:solidFill>
                        <a:srgbClr val="C00000"/>
                      </a:solidFill>
                      <a:prstDash val="dash"/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 i="1">
                          <a:solidFill>
                            <a:srgbClr val="C00000"/>
                          </a:solidFill>
                          <a:latin typeface="Arial"/>
                        </a:rPr>
                        <a:t>15.9% 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C00000"/>
                      </a:solidFill>
                      <a:prstDash val="dash"/>
                    </a:lnT>
                    <a:lnB w="12700" cap="flat" cmpd="sng" algn="ctr">
                      <a:solidFill>
                        <a:srgbClr val="C00000"/>
                      </a:solidFill>
                      <a:prstDash val="dash"/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 i="1">
                          <a:solidFill>
                            <a:srgbClr val="C00000"/>
                          </a:solidFill>
                          <a:latin typeface="Arial"/>
                        </a:rPr>
                        <a:t>15.9% 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C00000"/>
                      </a:solidFill>
                      <a:prstDash val="dash"/>
                    </a:lnT>
                    <a:lnB w="12700" cap="flat" cmpd="sng" algn="ctr">
                      <a:solidFill>
                        <a:srgbClr val="C00000"/>
                      </a:solidFill>
                      <a:prstDash val="dash"/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 i="1">
                          <a:solidFill>
                            <a:srgbClr val="C00000"/>
                          </a:solidFill>
                          <a:latin typeface="Arial"/>
                        </a:rPr>
                        <a:t>15.9% 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C00000"/>
                      </a:solidFill>
                      <a:prstDash val="dash"/>
                    </a:lnT>
                    <a:lnB w="12700" cap="flat" cmpd="sng" algn="ctr">
                      <a:solidFill>
                        <a:srgbClr val="C00000"/>
                      </a:solidFill>
                      <a:prstDash val="dash"/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 i="1">
                          <a:solidFill>
                            <a:srgbClr val="C00000"/>
                          </a:solidFill>
                          <a:latin typeface="Arial"/>
                        </a:rPr>
                        <a:t>15.9% 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 cap="flat" cmpd="sng" algn="ctr">
                      <a:solidFill>
                        <a:srgbClr val="C00000"/>
                      </a:solidFill>
                      <a:prstDash val="dash"/>
                    </a:lnR>
                    <a:lnT w="12700" cap="flat" cmpd="sng" algn="ctr">
                      <a:solidFill>
                        <a:srgbClr val="C00000"/>
                      </a:solidFill>
                      <a:prstDash val="dash"/>
                    </a:lnT>
                    <a:lnB w="12700" cap="flat" cmpd="sng" algn="ctr">
                      <a:solidFill>
                        <a:srgbClr val="C00000"/>
                      </a:solidFill>
                      <a:prstDash val="dash"/>
                    </a:lnB>
                    <a:solidFill>
                      <a:srgbClr val="FCE4E4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(-) Cost of Goods Sold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(1,360.0)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(1,379.0)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(1,455.3)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(1,660.4)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(1,893.9)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(2,159.7)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(2,503.9)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(2,902.9)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Gross Profit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 i="0">
                          <a:solidFill>
                            <a:srgbClr val="0000FF"/>
                          </a:solidFill>
                          <a:latin typeface="Arial"/>
                        </a:rPr>
                        <a:t>2,972.0 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 i="0">
                          <a:solidFill>
                            <a:srgbClr val="0000FF"/>
                          </a:solidFill>
                          <a:latin typeface="Arial"/>
                        </a:rPr>
                        <a:t>2,964.0 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3,164.7 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3,695.8 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4,315.7 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5,039.4 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5,842.4 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6,773.4 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050" b="0" i="1">
                          <a:solidFill>
                            <a:srgbClr val="000000"/>
                          </a:solidFill>
                          <a:latin typeface="Arial"/>
                        </a:rPr>
                        <a:t>Gross Margin (%)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 i="1">
                          <a:solidFill>
                            <a:srgbClr val="000000"/>
                          </a:solidFill>
                          <a:latin typeface="Arial"/>
                        </a:rPr>
                        <a:t>68.6% 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 i="1">
                          <a:solidFill>
                            <a:srgbClr val="000000"/>
                          </a:solidFill>
                          <a:latin typeface="Arial"/>
                        </a:rPr>
                        <a:t>68.2% 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 i="1">
                          <a:solidFill>
                            <a:srgbClr val="000000"/>
                          </a:solidFill>
                          <a:latin typeface="Arial"/>
                        </a:rPr>
                        <a:t>68.5% 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 i="1">
                          <a:solidFill>
                            <a:srgbClr val="000000"/>
                          </a:solidFill>
                          <a:latin typeface="Arial"/>
                        </a:rPr>
                        <a:t>69.0% 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 i="1">
                          <a:solidFill>
                            <a:srgbClr val="000000"/>
                          </a:solidFill>
                          <a:latin typeface="Arial"/>
                        </a:rPr>
                        <a:t>69.5% 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 i="1">
                          <a:solidFill>
                            <a:srgbClr val="000000"/>
                          </a:solidFill>
                          <a:latin typeface="Arial"/>
                        </a:rPr>
                        <a:t>70.0% 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 i="1">
                          <a:solidFill>
                            <a:srgbClr val="000000"/>
                          </a:solidFill>
                          <a:latin typeface="Arial"/>
                        </a:rPr>
                        <a:t>70.0% 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 i="1">
                          <a:solidFill>
                            <a:srgbClr val="000000"/>
                          </a:solidFill>
                          <a:latin typeface="Arial"/>
                        </a:rPr>
                        <a:t>70.0% 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(-) Operating Expenses (D&amp;A, SBC)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(1,825.0)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(1,756.0)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(1,866.5)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(2,062.1)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(2,428.0)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(2,858.1)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(3,321.8)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(3,860.8)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Adj. EBITDA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 i="0">
                          <a:solidFill>
                            <a:srgbClr val="0000FF"/>
                          </a:solidFill>
                          <a:latin typeface="Arial"/>
                        </a:rPr>
                        <a:t>1,147.0 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 i="0">
                          <a:solidFill>
                            <a:srgbClr val="0000FF"/>
                          </a:solidFill>
                          <a:latin typeface="Arial"/>
                        </a:rPr>
                        <a:t>1,208.0 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1,298.2 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1,633.6 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1,887.7 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2,181.3 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2,520.6 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2,912.6 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050" b="0" i="1">
                          <a:solidFill>
                            <a:srgbClr val="000000"/>
                          </a:solidFill>
                          <a:latin typeface="Arial"/>
                        </a:rPr>
                        <a:t>EBITDA Margin (%)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 i="1">
                          <a:solidFill>
                            <a:srgbClr val="000000"/>
                          </a:solidFill>
                          <a:latin typeface="Arial"/>
                        </a:rPr>
                        <a:t>26.5% 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 i="1">
                          <a:solidFill>
                            <a:srgbClr val="000000"/>
                          </a:solidFill>
                          <a:latin typeface="Arial"/>
                        </a:rPr>
                        <a:t>27.8% 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 i="1">
                          <a:solidFill>
                            <a:srgbClr val="000000"/>
                          </a:solidFill>
                          <a:latin typeface="Arial"/>
                        </a:rPr>
                        <a:t>28.1% 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 i="1">
                          <a:solidFill>
                            <a:srgbClr val="000000"/>
                          </a:solidFill>
                          <a:latin typeface="Arial"/>
                        </a:rPr>
                        <a:t>30.5% 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 i="1">
                          <a:solidFill>
                            <a:srgbClr val="000000"/>
                          </a:solidFill>
                          <a:latin typeface="Arial"/>
                        </a:rPr>
                        <a:t>30.4% 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 i="1">
                          <a:solidFill>
                            <a:srgbClr val="000000"/>
                          </a:solidFill>
                          <a:latin typeface="Arial"/>
                        </a:rPr>
                        <a:t>30.3% 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 i="1">
                          <a:solidFill>
                            <a:srgbClr val="000000"/>
                          </a:solidFill>
                          <a:latin typeface="Arial"/>
                        </a:rPr>
                        <a:t>30.2% 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 i="1">
                          <a:solidFill>
                            <a:srgbClr val="000000"/>
                          </a:solidFill>
                          <a:latin typeface="Arial"/>
                        </a:rPr>
                        <a:t>30.1% 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Implied Price/Gb Change (@ 25% Gb Growth)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(17.6%)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(18.1%)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 cap="flat" cmpd="sng" algn="ctr">
                      <a:solidFill>
                        <a:srgbClr val="C00000"/>
                      </a:solidFill>
                      <a:prstDash val="dash"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(14.9%)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C00000"/>
                      </a:solidFill>
                      <a:prstDash val="dash"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C00000"/>
                      </a:solidFill>
                      <a:prstDash val="dash"/>
                    </a:lnT>
                    <a:lnB w="12700">
                      <a:noFill/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(7.3%)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C00000"/>
                      </a:solidFill>
                      <a:prstDash val="dash"/>
                    </a:lnT>
                    <a:lnB w="12700">
                      <a:noFill/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(7.3%)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C00000"/>
                      </a:solidFill>
                      <a:prstDash val="dash"/>
                    </a:lnT>
                    <a:lnB w="12700">
                      <a:noFill/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(7.3%)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C00000"/>
                      </a:solidFill>
                      <a:prstDash val="dash"/>
                    </a:lnT>
                    <a:lnB w="12700">
                      <a:noFill/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(7.3%)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C00000"/>
                      </a:solidFill>
                      <a:prstDash val="dash"/>
                    </a:lnT>
                    <a:lnB w="12700">
                      <a:noFill/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(7.3%)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 cap="flat" cmpd="sng" algn="ctr">
                      <a:solidFill>
                        <a:srgbClr val="C00000"/>
                      </a:solidFill>
                      <a:prstDash val="dash"/>
                    </a:lnR>
                    <a:lnT w="12700" cap="flat" cmpd="sng" algn="ctr">
                      <a:solidFill>
                        <a:srgbClr val="C00000"/>
                      </a:solidFill>
                      <a:prstDash val="dash"/>
                    </a:lnT>
                    <a:lnB w="12700">
                      <a:noFill/>
                    </a:lnB>
                    <a:solidFill>
                      <a:srgbClr val="FCE4E4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Implied Price/Gb Change (@ 30% Gb Growth)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(20.8%)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(21.3%)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 cap="flat" cmpd="sng" algn="ctr">
                      <a:solidFill>
                        <a:srgbClr val="C00000"/>
                      </a:solidFill>
                      <a:prstDash val="dash"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(18.2%)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C00000"/>
                      </a:solidFill>
                      <a:prstDash val="dash"/>
                    </a:lnL>
                    <a:lnR w="12700">
                      <a:noFill/>
                    </a:lnR>
                    <a:lnT w="12700">
                      <a:noFill/>
                    </a:lnT>
                    <a:lnB w="12700" cap="flat" cmpd="sng" algn="ctr">
                      <a:solidFill>
                        <a:srgbClr val="C00000"/>
                      </a:solidFill>
                      <a:prstDash val="dash"/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(10.8%)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 cap="flat" cmpd="sng" algn="ctr">
                      <a:solidFill>
                        <a:srgbClr val="C00000"/>
                      </a:solidFill>
                      <a:prstDash val="dash"/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(10.8%)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 cap="flat" cmpd="sng" algn="ctr">
                      <a:solidFill>
                        <a:srgbClr val="C00000"/>
                      </a:solidFill>
                      <a:prstDash val="dash"/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(10.8%)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 cap="flat" cmpd="sng" algn="ctr">
                      <a:solidFill>
                        <a:srgbClr val="C00000"/>
                      </a:solidFill>
                      <a:prstDash val="dash"/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(10.8%)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 cap="flat" cmpd="sng" algn="ctr">
                      <a:solidFill>
                        <a:srgbClr val="C00000"/>
                      </a:solidFill>
                      <a:prstDash val="dash"/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(10.8%)</a:t>
                      </a:r>
                    </a:p>
                  </a:txBody>
                  <a:tcPr marL="45720" marR="45720" marT="0" marB="0" anchor="ctr">
                    <a:lnL w="12700">
                      <a:noFill/>
                    </a:lnL>
                    <a:lnR w="12700" cap="flat" cmpd="sng" algn="ctr">
                      <a:solidFill>
                        <a:srgbClr val="C00000"/>
                      </a:solidFill>
                      <a:prstDash val="dash"/>
                    </a:lnR>
                    <a:lnT w="12700">
                      <a:noFill/>
                    </a:lnT>
                    <a:lnB w="12700" cap="flat" cmpd="sng" algn="ctr">
                      <a:solidFill>
                        <a:srgbClr val="C00000"/>
                      </a:solidFill>
                      <a:prstDash val="dash"/>
                    </a:lnB>
                    <a:solidFill>
                      <a:srgbClr val="FCE4E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528048" y="1746504"/>
          <a:ext cx="2514600" cy="329184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691640"/>
                <a:gridCol w="822960"/>
              </a:tblGrid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2031 EV/EBITDA</a:t>
                      </a:r>
                    </a:p>
                  </a:txBody>
                  <a:tcPr marL="73152" marR="36576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20.4x </a:t>
                      </a:r>
                    </a:p>
                  </a:txBody>
                  <a:tcPr marL="36576" marR="73152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2031 Adj. EBITDA</a:t>
                      </a:r>
                    </a:p>
                  </a:txBody>
                  <a:tcPr marL="73152" marR="36576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2,912.6 </a:t>
                      </a:r>
                    </a:p>
                  </a:txBody>
                  <a:tcPr marL="36576" marR="73152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PV of Terminal Value</a:t>
                      </a:r>
                    </a:p>
                  </a:txBody>
                  <a:tcPr marL="73152" marR="36576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36,921.0 </a:t>
                      </a:r>
                    </a:p>
                  </a:txBody>
                  <a:tcPr marL="36576" marR="73152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Sum of PV of UFCF</a:t>
                      </a:r>
                    </a:p>
                  </a:txBody>
                  <a:tcPr marL="73152" marR="36576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5,481.3 </a:t>
                      </a:r>
                    </a:p>
                  </a:txBody>
                  <a:tcPr marL="36576" marR="73152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Enterprise Value</a:t>
                      </a:r>
                    </a:p>
                  </a:txBody>
                  <a:tcPr marL="73152" marR="36576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42,402.3 </a:t>
                      </a:r>
                    </a:p>
                  </a:txBody>
                  <a:tcPr marL="36576" marR="73152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(-) Net Debt</a:t>
                      </a:r>
                    </a:p>
                  </a:txBody>
                  <a:tcPr marL="73152" marR="36576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(823.0)</a:t>
                      </a:r>
                    </a:p>
                  </a:txBody>
                  <a:tcPr marL="36576" marR="73152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Equity Value</a:t>
                      </a:r>
                    </a:p>
                  </a:txBody>
                  <a:tcPr marL="73152" marR="36576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41,579.3 </a:t>
                      </a:r>
                    </a:p>
                  </a:txBody>
                  <a:tcPr marL="36576" marR="73152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(/) FDSO</a:t>
                      </a:r>
                    </a:p>
                  </a:txBody>
                  <a:tcPr marL="73152" marR="36576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153.0 </a:t>
                      </a:r>
                    </a:p>
                  </a:txBody>
                  <a:tcPr marL="36576" marR="73152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Implied Share Price</a:t>
                      </a:r>
                    </a:p>
                  </a:txBody>
                  <a:tcPr marL="73152" marR="36576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$271.76 </a:t>
                      </a:r>
                    </a:p>
                  </a:txBody>
                  <a:tcPr marL="36576" marR="73152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050" b="0" i="1">
                          <a:solidFill>
                            <a:srgbClr val="000000"/>
                          </a:solidFill>
                          <a:latin typeface="Arial"/>
                        </a:rPr>
                        <a:t>Implied Upside</a:t>
                      </a:r>
                    </a:p>
                  </a:txBody>
                  <a:tcPr marL="73152" marR="36576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 i="1">
                          <a:solidFill>
                            <a:srgbClr val="000000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36576" marR="73152" marT="0" marB="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5358383"/>
            <a:ext cx="11521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Implied Price/Gb Change = (1 + sequencing consumables growth) / (1 + Gb growth) − 1; history uses actual sequencing consumables, projections assume consumables grow with revenue. 2024A is Core Illumina (ex-GRAIL). Net debt $823M (28 Jun 2026); FDSO 153.0M. Sources: Bloomberg consensus (10 Oct 2026), ILMN Q2'26 10-Q and call, Aug 2024 strategy-update targets.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